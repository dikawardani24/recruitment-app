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AI-POWERED APPLICANT TRACKING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Candidate Ranking Model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9D6E4"/>
                </a:solidFill>
                <a:latin typeface="Calibri"/>
                <a:ea typeface="Calibri"/>
                <a:cs typeface="Calibri"/>
              </a:rPr>
              <a:t>Explainable retrieval-augmented candidate matching — RAG + LLM reasoning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1560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9FB3C8"/>
                </a:solidFill>
                <a:latin typeface="Calibri"/>
                <a:ea typeface="Calibri"/>
                <a:cs typeface="Calibri"/>
              </a:rPr>
              <a:t>Replace keyword matching with semantic search. Every rank is scored, explained, and traceable to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Flutter (M3)  ·  FastAPI  ·  PostgreSQL + Qdrant  ·  BGE embeddings  ·  Provider-agnostic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8251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3C8"/>
                </a:solidFill>
                <a:latin typeface="Calibri"/>
                <a:ea typeface="Calibri"/>
                <a:cs typeface="Calibri"/>
              </a:rPr>
              <a:t>Project technical review  —  status: foundation + ingestion + search/ranking implemented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01 ·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the model is built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583680" cy="4663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Turn unstructured resumes into structured, searchable candidate knowledge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Every resume is parsed, normalized, and transformed to strict JSON before indexing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Rank candidates against a recruiter's natural-language query or a full job description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Semantic matching over skills, experience, projects, certifications — not keyword grep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Produce explainable results: bucket + score + strengths/weaknesses + reason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Every claim maps to a retrievable evidence chunk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Surface hidden gems — high-potential candidates rejected by years-based screening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Counteract years-of-experience bias with an explicit potential-scoring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002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600200"/>
            <a:ext cx="82296" cy="14173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9247" y="1709928"/>
            <a:ext cx="3639312" cy="11978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Two actors, one core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Applicant: upload → parse → index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Recruiter: query → retrieve → 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31546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3154680"/>
            <a:ext cx="82296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7" y="3264408"/>
            <a:ext cx="3639312" cy="11978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Not 'chat with your PDF'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Structured knowledge base first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is a reasoner, never a free-form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7091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4709160"/>
            <a:ext cx="82296" cy="141732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99247" y="4818888"/>
            <a:ext cx="3639312" cy="119786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Trust by construction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Deterministic scores own the rank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explains; it cannot invent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02 · MODEL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 end-to-end retrieval-augmented ranking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Write path —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48640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PDF upload → validation → digital text extraction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OCR fallback for scanned documents (Tesseract / PaddleOCR)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structuring → strict JSON candidate profile (Pydantic-validated)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Skill canonicalization + years-of-experience calculator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Semantic chunking from the structured profile, not raw text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Embeddings — BAAI bge-small-en-v1.5 (384-dim, CPU-friendly)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Vector upsert into Qdrant (idempotent on chunk_id)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18288" cy="4572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Read path — ranking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93776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Query embedding (bge query-instruction prefix at search time only)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Vector retrieval, grouped by candidate with section diversity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Profile hydration from PostgreSQL (ground truth)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Tier-1 deterministic scoring → overall score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Tier-2 LLM reasoning over retrieved evidence only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Bucket assignment: best / strong / hidden_gem / alternative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Ranking persisted for audit; cached by query signature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02 · MODEL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System architecture &amp; provider abstraction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4023360" cy="6858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FLUTTER CLIENT (Material 3)
Applicant · Recruiter dashboard · Resume viewer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4023360" cy="685800"/>
          </a:xfrm>
          <a:prstGeom prst="rect">
            <a:avLst/>
          </a:prstGeom>
          <a:solidFill>
            <a:srgbClr val="17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 GATEWAY — auth · resumes · candidates · search · 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74720"/>
            <a:ext cx="1965960" cy="1234440"/>
          </a:xfrm>
          <a:prstGeom prst="rect">
            <a:avLst/>
          </a:prstGeom>
          <a:solidFill>
            <a:srgbClr val="0D9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RESUME PIPELINE (async worker)
parse → structure → chunk → embed → upsert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3474720"/>
            <a:ext cx="1965960" cy="1234440"/>
          </a:xfrm>
          <a:prstGeom prst="rect">
            <a:avLst/>
          </a:prstGeom>
          <a:solidFill>
            <a:srgbClr val="0D9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 PIPELINE (sync)
embed → retrieve → hydrate → rank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983480"/>
            <a:ext cx="1965960" cy="868680"/>
          </a:xfrm>
          <a:prstGeom prst="rect">
            <a:avLst/>
          </a:prstGeom>
          <a:solidFill>
            <a:srgbClr val="334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POSTGRESQL
candidates · resumes · jobs · rankings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4983480"/>
            <a:ext cx="1965960" cy="868680"/>
          </a:xfrm>
          <a:prstGeom prst="rect">
            <a:avLst/>
          </a:prstGeom>
          <a:solidFill>
            <a:srgbClr val="334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QDRANT
chunks +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554480"/>
            <a:ext cx="6583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Provider ports — swap infrastructure without changing business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057400"/>
            <a:ext cx="21945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8" y="2057400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EmbeddingProvider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2057400"/>
            <a:ext cx="443484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2057400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OpenAI · Gemini · local BGE (ONNX) · debug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715768"/>
            <a:ext cx="21945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2715768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LLMProvider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715768"/>
            <a:ext cx="443484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2715768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OpenAI · Gemini · Ollama (Llama/Qwen/DeepSeek) · vLLM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374136"/>
            <a:ext cx="21945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3374136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VectorStore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3374136"/>
            <a:ext cx="443484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3374136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Qdrant · pgvector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4032504"/>
            <a:ext cx="21945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4032504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OCRProvider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4032504"/>
            <a:ext cx="443484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9208" y="4032504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Tesseract · PaddleOCR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4690872"/>
            <a:ext cx="21945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8" y="4690872"/>
            <a:ext cx="210312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ObjectStorage / FileParser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4690872"/>
            <a:ext cx="443484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79208" y="4690872"/>
            <a:ext cx="4297680" cy="56692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S3 · local · pdf / docx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440680"/>
            <a:ext cx="6583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Selected via config (settings.providers.*) — adding a provider = new adapter + DI registration. Hallucination guard: the ranking LLM only sees structured profiles + retrieved chunks.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02 · MODEL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Ranking algorithm — two-tier, hybrid, evidence-based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57784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577840" cy="5029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53035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TIER 1 — Deterministic heuristic scoring (per candidate)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521208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skill_match — taxonomy overlap + semantic similarity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experience_match — years ratio · domain cosine · progression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education_match / certification_match — required criteria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hidden_gem_score — potential signals, not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52120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overall = weighted sum over active dimensions
   + bounded LLM delta (clamped ±0.08)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Buckets via transparent rules, not LLM discretion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257800"/>
            <a:ext cx="5577840" cy="685800"/>
          </a:xfrm>
          <a:prstGeom prst="rect">
            <a:avLst/>
          </a:prstGeom>
          <a:solidFill>
            <a:srgbClr val="0D9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57800"/>
            <a:ext cx="539496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best ≥ .80 &amp; cov ≥ .7   ·   strong ≥ .60 &amp; cov ≥ .5   ·   hidden_gem .45–.74 &amp; HG ≥ .5   ·   alternative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5120640" cy="4297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00200"/>
            <a:ext cx="5120640" cy="502920"/>
          </a:xfrm>
          <a:prstGeom prst="rect">
            <a:avLst/>
          </a:prstGeom>
          <a:solidFill>
            <a:srgbClr val="0D9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600200"/>
            <a:ext cx="48463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TIER 2 — LLM reasoning (evidence-constrained)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286000"/>
            <a:ext cx="4709160" cy="3474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Input: job intent + structured profile + bounded evidence pack (max N chunks)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Output JSON: strengths · weaknesses · explanation · recommendation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Must cite evidence_chunk_ids ⊆ retrieved — else reject &amp; regenerate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delta clamped ±0.08 → cannot overturn a strong heuristic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Fallback: LLM down → heuristic buckets remain, no narrative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03 · EFFECTIVENESS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the model's effectiveness is measured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Retrieval &amp; ranking quality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645920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72968" y="164592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nDCG@20 ≥ 0.80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1645920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Ranking eval: human-labeled relevance pairs vs heuristic + LLM ranks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49424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Pipeline reliability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249424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2249424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Upload → INDEXED ≥ 95%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249424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96128" y="2249424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10 varied sample PDFs incl. 2 scanned must all reach INDEXED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852928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52928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Indexing latency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63240" y="2852928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72968" y="2852928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Median &lt; 30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852928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128" y="2852928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Async worker; OCR path for scanned resumes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456432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456432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Search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3456432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3456432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p95 &lt; 2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456432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56432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Excludes cold model loads; cached by query signature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059936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59936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Recruiter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4059936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72968" y="4059936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Shortlist time −40%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4059936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96128" y="4059936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Self-reported time-to-shortlist vs manual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663440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66344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Hidden-gem value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63240" y="4663440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72968" y="4663440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≥ 15% of shortlist → interview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0" y="4663440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96128" y="4663440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Proves potential-based ranking adds value beyond years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266944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266944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Trust / anti-hallucination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5266944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72968" y="5266944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⊆ retrieved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0" y="5266944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96128" y="5266944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Every explanation claim traceable to a chunk_id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5870448"/>
            <a:ext cx="2377440" cy="5486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8" y="5870448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Determinism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63240" y="5870448"/>
            <a:ext cx="23774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72968" y="5870448"/>
            <a:ext cx="22860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Reproducible ranks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0" y="5870448"/>
            <a:ext cx="6035040" cy="5486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96128" y="5870448"/>
            <a:ext cx="585216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temperature 0 · deterministic evidence pack ordering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04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Golden resume set + labeled relevance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82296" cy="19202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09928"/>
            <a:ext cx="5102352" cy="17007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Source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Planned golden set of varied, real-world-style resumes (PDF)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Incl. scanned documents to exercise OCR fallback path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Human-labeled relevance pairs for ranking eval (nDCG)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Seed directory scaffolded at backend/data/resumes (to populate)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82296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709928"/>
            <a:ext cx="4736592" cy="17007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Pre-processing pipeline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File validation → PDF text extraction → OCR fallback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Cleaning → section detection &amp; normalization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structuring → strict JSON (schema + few-shot)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Skill canonicalization → semantic chunking → embeddings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57600"/>
            <a:ext cx="5486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82296" cy="21488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767328"/>
            <a:ext cx="5102352" cy="19293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Insights that shaped the design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Chunking from the structured profile (not raw text) keeps chunks semantically homogeneous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bge-small-en-v1.5: 384-dim, CPU-friendly, strong retrieval at low cost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Query-side instruction prefix applied at search time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657600"/>
            <a:ext cx="5120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657600"/>
            <a:ext cx="82296" cy="2148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767328"/>
            <a:ext cx="4736592" cy="19293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Dataset status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Eval harness + golden-set assertions are spec'd in the design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A/B harness to compare embedding models / LLM providers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Next step: seed sample resumes and wire Qdrant to index them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05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the model was designed and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0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55064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Design-first, then build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14-doc design package: architecture, ERD, API, AI/RAG/ranking pipelines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Clean Architecture + repository pattern + dependency injection (SOLID)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Ports &amp; adapters — providers swapped via config, not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542032"/>
            <a:ext cx="10972800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96896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Retrieval-augmented generation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Indexing: parse → structure → chunk → embed → upsert (idempotent)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Retrieval: embed query → Qdrant search → hydrate → rank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Optional hybrid BM25 + RRF fusion for low-recall 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83864"/>
            <a:ext cx="10972800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38728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Two-tier ranking by design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Deterministic tier owns scores &amp; buckets (transparent rules)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tier explains &amp; refines within a bounded delta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Deliberate decision: LLM explains 'why', never decides the rank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25696"/>
            <a:ext cx="10972800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480560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Safety &amp; guardrails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Schema-validated structuring with self-healing retry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Prompt-injection isolation; LLM never sees raw resume text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Post-validation: evidence chunk_ids must be subset of retrieved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367528"/>
            <a:ext cx="10972800" cy="8686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422392"/>
            <a:ext cx="10972800" cy="777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Vertical slices, not big-bang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Each milestone runnable &amp; demoable end-to-end (Phase 0 → 5)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Definition of done: tests green, lint clean, demoable UI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Eval-first: golden set + nDCG harness gate provider swaps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06 · 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Problems encountered — and what we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577840" cy="45262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577840" cy="4572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53035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Challenges &amp; how they were handled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521208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Messy / malformed resumes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Strict JSON schema + validation, retry with error feedback, review queue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hallucination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Evidence-only prompting; chunk_id subset post-validation; raw scores stay visible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Prompt injection via resume text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Delimiter-isolated prompts; injected strings land in text fields, never logic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Provider lock-in &amp; cost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Ports + adapters; local BGE default; token budgets; caching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Niche query recall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Optional hybrid BM25 + reciprocal rank fusion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Years-of-experience bias</a:t>
            </a:r>
          </a:p>
          <a:p>
            <a:pPr algn="l" lvl="1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–  Explicit hidden-gem scoring model — potential signals, code-level &amp; auditable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5120640" cy="452628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5120640" cy="457200"/>
          </a:xfrm>
          <a:prstGeom prst="rect">
            <a:avLst/>
          </a:prstGeom>
          <a:solidFill>
            <a:srgbClr val="0D9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Key learnings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60"/>
            <a:ext cx="4663440" cy="3840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Deterministic rules should own the score; let the LLM explain, not decide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Verifiability builds recruiter trust — every claim maps to a chunk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Design-first (14 docs) avoided rework; vertical slices kept each milestone demoable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Provider abstraction paid off: swap models/infra via config, zero business-logic changes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Anti-bias is a product feature: hidden gems are surfaced with a clear reason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07 · 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Staggered roadmap — Phase 5 and beyond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8229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75564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Interview question generator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Reuse per-candidate chunks + JD to draft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45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45920"/>
            <a:ext cx="8229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75564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Candidate fit score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Persisted, long-lived match score per candidate + 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64592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645920"/>
            <a:ext cx="82296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75564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Bias detection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Score distributions vs protected-attribute proxies; equality-of-opportunity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5468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154680"/>
            <a:ext cx="82296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26440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Salary prediction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Regression over structured profiles + market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15468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154680"/>
            <a:ext cx="8229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326440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JD optimizer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LLM suggestions over JD chunks via RAG to best-practice corpus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15468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3154680"/>
            <a:ext cx="82296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326440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AI resume suggestions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Reverse of structuring: profile → improvement suggestions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63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82296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77316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Multi-language resumes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bge-m3 / multilingual-e5 + OCR language 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4663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4663440"/>
            <a:ext cx="82296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477316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Analytics dashboard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Funnel, pipeline-quality, and retrieval-quality metrics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663440"/>
            <a:ext cx="3611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4663440"/>
            <a:ext cx="82296" cy="1371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4773168"/>
            <a:ext cx="3227832" cy="11521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Provider upgrades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•  Larger embedding models behind a version gate; A/B via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08 ·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to see the model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A public demo link is not yet deployed — the project is in early implementation. The model runs locally today: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881360" cy="30175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6032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Start the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60604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6766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docker compose up  (PostgreSQL + Qdrant + worker)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0896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Run the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15468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154680"/>
            <a:ext cx="6766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uvicorn app.main:app  —  health: GET /healthz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760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Index resumes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70332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703320"/>
            <a:ext cx="6766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POST /api/v1/resumes  →  pipeline: parse → structure → embed → upsert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0624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Rank candidates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25196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251960"/>
            <a:ext cx="6766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POST /api/v1/search/query  { "query": "senior Flutter engineer, payments" }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006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54880"/>
            <a:ext cx="283464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2A43"/>
                </a:solidFill>
                <a:latin typeface="Calibri"/>
                <a:ea typeface="Calibri"/>
                <a:cs typeface="Calibri"/>
              </a:rPr>
              <a:t>Inspect evidence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800600"/>
            <a:ext cx="6949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4800600"/>
            <a:ext cx="67665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4255"/>
                </a:solidFill>
                <a:latin typeface="Calibri"/>
                <a:ea typeface="Calibri"/>
                <a:cs typeface="Calibri"/>
              </a:rPr>
              <a:t>Response returns bucket, scores, explanation + evidence chunk_ids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Full run instructions: docs/setup-and-testing.md  ·  Current status: Phase 0–2 scaffolded — FastAPI + Flutter + ranking engine + unit/integration tests.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AI-Powered ATS — Candidate Ranking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56371"/>
                </a:solidFill>
                <a:latin typeface="Calibri"/>
                <a:ea typeface="Calibri"/>
                <a:cs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semantic, explainable candidate ranking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D8E2EC"/>
                </a:solidFill>
                <a:latin typeface="Calibri"/>
                <a:ea typeface="Calibri"/>
                <a:cs typeface="Calibri"/>
              </a:rPr>
              <a:t>•  Objective: resumes → structured knowledge → explainable, bias-aware ranking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D8E2EC"/>
                </a:solidFill>
                <a:latin typeface="Calibri"/>
                <a:ea typeface="Calibri"/>
                <a:cs typeface="Calibri"/>
              </a:rPr>
              <a:t>•  Model: RAG + two-tier hybrid (deterministic scores + evidence-constrained LLM)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D8E2EC"/>
                </a:solidFill>
                <a:latin typeface="Calibri"/>
                <a:ea typeface="Calibri"/>
                <a:cs typeface="Calibri"/>
              </a:rPr>
              <a:t>•  Metrics: nDCG@20 ≥ .80 · pipeline ≥ 95% · search p95 &lt; 2 s · hidden-gem yield ≥ 15%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D8E2EC"/>
                </a:solidFill>
                <a:latin typeface="Calibri"/>
                <a:ea typeface="Calibri"/>
                <a:cs typeface="Calibri"/>
              </a:rPr>
              <a:t>•  Dataset: golden resume set + labeled relevance pairs (seeding in progress)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D8E2EC"/>
                </a:solidFill>
                <a:latin typeface="Calibri"/>
                <a:ea typeface="Calibri"/>
                <a:cs typeface="Calibri"/>
              </a:rPr>
              <a:t>•  Next: seed dataset, wire Qdrant indexing, LLM reasoning tier, then a live demo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FB3C8"/>
                </a:solidFill>
                <a:latin typeface="Calibri"/>
                <a:ea typeface="Calibri"/>
                <a:cs typeface="Calibri"/>
              </a:rPr>
              <a:t>FastAPI · Flutter · PostgreSQL · Qdrant · BGE embeddings · provider-agnostic LLM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